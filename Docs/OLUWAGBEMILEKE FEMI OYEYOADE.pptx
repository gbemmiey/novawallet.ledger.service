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22E64"/>
          </a:solidFill>
        </p:spPr>
      </p:sp>
      <p:sp>
        <p:nvSpPr>
          <p:cNvPr id="3" name="Shape 1"/>
          <p:cNvSpPr/>
          <p:nvPr/>
        </p:nvSpPr>
        <p:spPr>
          <a:xfrm>
            <a:off x="0" y="201168"/>
            <a:ext cx="12188952" cy="45720"/>
          </a:xfrm>
          <a:prstGeom prst="rect">
            <a:avLst/>
          </a:prstGeom>
          <a:solidFill>
            <a:srgbClr val="E0AD0F"/>
          </a:solidFill>
        </p:spPr>
      </p:sp>
      <p:sp>
        <p:nvSpPr>
          <p:cNvPr id="4" name="Text 2"/>
          <p:cNvSpPr txBox="1"/>
          <p:nvPr/>
        </p:nvSpPr>
        <p:spPr>
          <a:xfrm>
            <a:off x="731520" y="21488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FIRSTBANK DIGITAL FACTORY  -  BACKEND ENGINEER TAKE-HOME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87168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NovaWallet Ledger Service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High-Concurrency Double-Entry Engine for NovaPay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5074920"/>
            <a:ext cx="292608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21208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Oluwagbemileke Femi Oyeyoade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5046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Backend Software Engineer  ·  github.com/Gbemmiey</a:t>
            </a:r>
            <a:endParaRPr lang="en-US" sz="1200" dirty="0"/>
          </a:p>
        </p:txBody>
      </p:sp>
      <p:pic>
        <p:nvPicPr>
          <p:cNvPr id="10" name="Image 0" descr="/home/claude/deck3/firstban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68099"/>
            <a:ext cx="502920" cy="42530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88552" y="65471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SCENARIO &amp; SCOPE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Context, Constraints &amp; Functional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NovaWallet - the P2P / e-wallet core of NovaPay super-app.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5440680" cy="4361688"/>
          </a:xfrm>
          <a:prstGeom prst="roundRect">
            <a:avLst>
              <a:gd name="adj" fmla="val 1887"/>
            </a:avLst>
          </a:prstGeom>
          <a:solidFill>
            <a:srgbClr val="F6F7F9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88366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Functional Requirements</a:t>
            </a:r>
            <a:endParaRPr lang="en-US" sz="1500" dirty="0"/>
          </a:p>
        </p:txBody>
      </p:sp>
      <p:grpSp>
        <p:nvGrpSpPr>
          <p:cNvPr id="64" name="Group 63"/>
          <p:cNvGrpSpPr/>
          <p:nvPr/>
        </p:nvGrpSpPr>
        <p:grpSpPr>
          <a:xfrm>
            <a:off x="868680" y="2399030"/>
            <a:ext cx="4845050" cy="3515995"/>
            <a:chOff x="1368" y="3586"/>
            <a:chExt cx="7630" cy="5537"/>
          </a:xfrm>
        </p:grpSpPr>
        <p:grpSp>
          <p:nvGrpSpPr>
            <p:cNvPr id="57" name="Group 56"/>
            <p:cNvGrpSpPr/>
            <p:nvPr/>
          </p:nvGrpSpPr>
          <p:grpSpPr>
            <a:xfrm>
              <a:off x="1368" y="3586"/>
              <a:ext cx="7631" cy="576"/>
              <a:chOff x="1368" y="3586"/>
              <a:chExt cx="7631" cy="576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1368" y="3686"/>
                <a:ext cx="374" cy="374"/>
              </a:xfrm>
              <a:prstGeom prst="ellipse">
                <a:avLst/>
              </a:prstGeom>
              <a:solidFill>
                <a:srgbClr val="E7EDF5"/>
              </a:solidFill>
            </p:spPr>
          </p:sp>
          <p:sp>
            <p:nvSpPr>
              <p:cNvPr id="8" name="Text 6"/>
              <p:cNvSpPr txBox="1"/>
              <p:nvPr/>
            </p:nvSpPr>
            <p:spPr>
              <a:xfrm>
                <a:off x="1368" y="3686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9" name="Text 7"/>
              <p:cNvSpPr txBox="1"/>
              <p:nvPr/>
            </p:nvSpPr>
            <p:spPr>
              <a:xfrm>
                <a:off x="1915" y="3586"/>
                <a:ext cx="7085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Wallet creation, O(1) fast balance lookup</a:t>
                </a:r>
                <a:endParaRPr lang="en-US" sz="1300" dirty="0"/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1368" y="4413"/>
              <a:ext cx="7631" cy="576"/>
              <a:chOff x="1368" y="4413"/>
              <a:chExt cx="7631" cy="576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1368" y="4513"/>
                <a:ext cx="374" cy="374"/>
              </a:xfrm>
              <a:prstGeom prst="ellipse">
                <a:avLst/>
              </a:prstGeom>
              <a:solidFill>
                <a:srgbClr val="E7EDF5"/>
              </a:solidFill>
            </p:spPr>
          </p:sp>
          <p:sp>
            <p:nvSpPr>
              <p:cNvPr id="11" name="Text 9"/>
              <p:cNvSpPr txBox="1"/>
              <p:nvPr/>
            </p:nvSpPr>
            <p:spPr>
              <a:xfrm>
                <a:off x="1368" y="4513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12" name="Text 10"/>
              <p:cNvSpPr txBox="1"/>
              <p:nvPr/>
            </p:nvSpPr>
            <p:spPr>
              <a:xfrm>
                <a:off x="1915" y="4413"/>
                <a:ext cx="7085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Concurrency-safe P2P inter-wallet transfers</a:t>
                </a:r>
                <a:endParaRPr lang="en-US" sz="1300" dirty="0"/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1368" y="5240"/>
              <a:ext cx="7631" cy="576"/>
              <a:chOff x="1368" y="5240"/>
              <a:chExt cx="7631" cy="576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1368" y="5340"/>
                <a:ext cx="374" cy="374"/>
              </a:xfrm>
              <a:prstGeom prst="ellipse">
                <a:avLst/>
              </a:prstGeom>
              <a:solidFill>
                <a:srgbClr val="E7EDF5"/>
              </a:solidFill>
            </p:spPr>
          </p:sp>
          <p:sp>
            <p:nvSpPr>
              <p:cNvPr id="14" name="Text 12"/>
              <p:cNvSpPr txBox="1"/>
              <p:nvPr/>
            </p:nvSpPr>
            <p:spPr>
              <a:xfrm>
                <a:off x="1368" y="5340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15" name="Text 13"/>
              <p:cNvSpPr txBox="1"/>
              <p:nvPr/>
            </p:nvSpPr>
            <p:spPr>
              <a:xfrm>
                <a:off x="1915" y="5240"/>
                <a:ext cx="7085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Simulated NIP deposit clearing</a:t>
                </a:r>
                <a:endParaRPr lang="en-US" sz="1300" dirty="0"/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1368" y="6067"/>
              <a:ext cx="7631" cy="576"/>
              <a:chOff x="1368" y="6067"/>
              <a:chExt cx="7631" cy="576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1368" y="6167"/>
                <a:ext cx="374" cy="374"/>
              </a:xfrm>
              <a:prstGeom prst="ellipse">
                <a:avLst/>
              </a:prstGeom>
              <a:solidFill>
                <a:srgbClr val="E7EDF5"/>
              </a:solidFill>
            </p:spPr>
          </p:sp>
          <p:sp>
            <p:nvSpPr>
              <p:cNvPr id="17" name="Text 15"/>
              <p:cNvSpPr txBox="1"/>
              <p:nvPr/>
            </p:nvSpPr>
            <p:spPr>
              <a:xfrm>
                <a:off x="1368" y="6167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18" name="Text 16"/>
              <p:cNvSpPr txBox="1"/>
              <p:nvPr/>
            </p:nvSpPr>
            <p:spPr>
              <a:xfrm>
                <a:off x="1915" y="6067"/>
                <a:ext cx="7085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Idempotency-Key on the transfer endpoint</a:t>
                </a:r>
                <a:endParaRPr lang="en-US" sz="1300" dirty="0"/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1368" y="6893"/>
              <a:ext cx="7631" cy="576"/>
              <a:chOff x="1368" y="6893"/>
              <a:chExt cx="7631" cy="576"/>
            </a:xfrm>
          </p:grpSpPr>
          <p:sp>
            <p:nvSpPr>
              <p:cNvPr id="19" name="Shape 17"/>
              <p:cNvSpPr/>
              <p:nvPr/>
            </p:nvSpPr>
            <p:spPr>
              <a:xfrm>
                <a:off x="1368" y="6994"/>
                <a:ext cx="374" cy="374"/>
              </a:xfrm>
              <a:prstGeom prst="ellipse">
                <a:avLst/>
              </a:prstGeom>
              <a:solidFill>
                <a:srgbClr val="E7EDF5"/>
              </a:solidFill>
            </p:spPr>
          </p:sp>
          <p:sp>
            <p:nvSpPr>
              <p:cNvPr id="20" name="Text 18"/>
              <p:cNvSpPr txBox="1"/>
              <p:nvPr/>
            </p:nvSpPr>
            <p:spPr>
              <a:xfrm>
                <a:off x="1368" y="6994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21" name="Text 19"/>
              <p:cNvSpPr txBox="1"/>
              <p:nvPr/>
            </p:nvSpPr>
            <p:spPr>
              <a:xfrm>
                <a:off x="1915" y="6893"/>
                <a:ext cx="7085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Paginated statement, newest first</a:t>
                </a:r>
                <a:endParaRPr lang="en-US" sz="1300" dirty="0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368" y="7720"/>
              <a:ext cx="7631" cy="576"/>
              <a:chOff x="1368" y="7720"/>
              <a:chExt cx="7631" cy="576"/>
            </a:xfrm>
          </p:grpSpPr>
          <p:sp>
            <p:nvSpPr>
              <p:cNvPr id="22" name="Shape 20"/>
              <p:cNvSpPr/>
              <p:nvPr/>
            </p:nvSpPr>
            <p:spPr>
              <a:xfrm>
                <a:off x="1368" y="7821"/>
                <a:ext cx="374" cy="374"/>
              </a:xfrm>
              <a:prstGeom prst="ellipse">
                <a:avLst/>
              </a:prstGeom>
              <a:solidFill>
                <a:srgbClr val="E7EDF5"/>
              </a:solidFill>
            </p:spPr>
          </p:sp>
          <p:sp>
            <p:nvSpPr>
              <p:cNvPr id="23" name="Text 21"/>
              <p:cNvSpPr txBox="1"/>
              <p:nvPr/>
            </p:nvSpPr>
            <p:spPr>
              <a:xfrm>
                <a:off x="1368" y="7821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24" name="Text 22"/>
              <p:cNvSpPr txBox="1"/>
              <p:nvPr/>
            </p:nvSpPr>
            <p:spPr>
              <a:xfrm>
                <a:off x="1915" y="7720"/>
                <a:ext cx="7085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Daily outbound limit, anchored to WAT</a:t>
                </a:r>
                <a:endParaRPr lang="en-US" sz="1300" dirty="0"/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1368" y="8547"/>
              <a:ext cx="7631" cy="576"/>
              <a:chOff x="1368" y="8547"/>
              <a:chExt cx="7631" cy="576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1368" y="8648"/>
                <a:ext cx="374" cy="374"/>
              </a:xfrm>
              <a:prstGeom prst="ellipse">
                <a:avLst/>
              </a:prstGeom>
              <a:solidFill>
                <a:srgbClr val="E7EDF5"/>
              </a:solidFill>
            </p:spPr>
          </p:sp>
          <p:sp>
            <p:nvSpPr>
              <p:cNvPr id="26" name="Text 24"/>
              <p:cNvSpPr txBox="1"/>
              <p:nvPr/>
            </p:nvSpPr>
            <p:spPr>
              <a:xfrm>
                <a:off x="1368" y="8648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27" name="Text 25"/>
              <p:cNvSpPr txBox="1"/>
              <p:nvPr/>
            </p:nvSpPr>
            <p:spPr>
              <a:xfrm>
                <a:off x="1915" y="8547"/>
                <a:ext cx="7085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Append-only audit trail, separate from ledger</a:t>
                </a:r>
                <a:endParaRPr lang="en-US" sz="1300" dirty="0"/>
              </a:p>
            </p:txBody>
          </p:sp>
        </p:grpSp>
      </p:grpSp>
      <p:sp>
        <p:nvSpPr>
          <p:cNvPr id="28" name="Shape 26"/>
          <p:cNvSpPr/>
          <p:nvPr/>
        </p:nvSpPr>
        <p:spPr>
          <a:xfrm>
            <a:off x="6172200" y="1718945"/>
            <a:ext cx="5486400" cy="4361180"/>
          </a:xfrm>
          <a:prstGeom prst="roundRect">
            <a:avLst>
              <a:gd name="adj" fmla="val 1887"/>
            </a:avLst>
          </a:prstGeom>
          <a:solidFill>
            <a:srgbClr val="E7EDF5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92240" y="188366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Hard Engineering Guarantees</a:t>
            </a:r>
            <a:endParaRPr lang="en-US" sz="1500" dirty="0"/>
          </a:p>
        </p:txBody>
      </p:sp>
      <p:grpSp>
        <p:nvGrpSpPr>
          <p:cNvPr id="56" name="Group 55"/>
          <p:cNvGrpSpPr/>
          <p:nvPr/>
        </p:nvGrpSpPr>
        <p:grpSpPr>
          <a:xfrm>
            <a:off x="6492240" y="2399030"/>
            <a:ext cx="5101590" cy="3429000"/>
            <a:chOff x="10224" y="3571"/>
            <a:chExt cx="8034" cy="5400"/>
          </a:xfrm>
        </p:grpSpPr>
        <p:grpSp>
          <p:nvGrpSpPr>
            <p:cNvPr id="50" name="Group 49"/>
            <p:cNvGrpSpPr/>
            <p:nvPr/>
          </p:nvGrpSpPr>
          <p:grpSpPr>
            <a:xfrm>
              <a:off x="10224" y="3571"/>
              <a:ext cx="8035" cy="576"/>
              <a:chOff x="10224" y="3571"/>
              <a:chExt cx="8035" cy="576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10224" y="3672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31" name="Text 29"/>
              <p:cNvSpPr txBox="1"/>
              <p:nvPr/>
            </p:nvSpPr>
            <p:spPr>
              <a:xfrm>
                <a:off x="10224" y="3672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!</a:t>
                </a:r>
                <a:endParaRPr lang="en-US" sz="1050" dirty="0"/>
              </a:p>
            </p:txBody>
          </p:sp>
          <p:sp>
            <p:nvSpPr>
              <p:cNvPr id="32" name="Text 30"/>
              <p:cNvSpPr txBox="1"/>
              <p:nvPr/>
            </p:nvSpPr>
            <p:spPr>
              <a:xfrm>
                <a:off x="10771" y="3571"/>
                <a:ext cx="748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Zero floating-point risk  (integer kobo everywhere)</a:t>
                </a:r>
                <a:endParaRPr lang="en-US" sz="1300" dirty="0"/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10224" y="4536"/>
              <a:ext cx="8035" cy="576"/>
              <a:chOff x="10224" y="4536"/>
              <a:chExt cx="8035" cy="576"/>
            </a:xfrm>
          </p:grpSpPr>
          <p:sp>
            <p:nvSpPr>
              <p:cNvPr id="33" name="Shape 31"/>
              <p:cNvSpPr/>
              <p:nvPr/>
            </p:nvSpPr>
            <p:spPr>
              <a:xfrm>
                <a:off x="10224" y="4637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34" name="Text 32"/>
              <p:cNvSpPr txBox="1"/>
              <p:nvPr/>
            </p:nvSpPr>
            <p:spPr>
              <a:xfrm>
                <a:off x="10224" y="4637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!</a:t>
                </a:r>
                <a:endParaRPr lang="en-US" sz="1050" dirty="0"/>
              </a:p>
            </p:txBody>
          </p:sp>
          <p:sp>
            <p:nvSpPr>
              <p:cNvPr id="35" name="Text 33"/>
              <p:cNvSpPr txBox="1"/>
              <p:nvPr/>
            </p:nvSpPr>
            <p:spPr>
              <a:xfrm>
                <a:off x="10771" y="4536"/>
                <a:ext cx="748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Strict balance non-negativity under any interleaving</a:t>
                </a:r>
                <a:endParaRPr lang="en-US" sz="1300" dirty="0"/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10224" y="5501"/>
              <a:ext cx="8035" cy="576"/>
              <a:chOff x="10224" y="5501"/>
              <a:chExt cx="8035" cy="576"/>
            </a:xfrm>
          </p:grpSpPr>
          <p:sp>
            <p:nvSpPr>
              <p:cNvPr id="36" name="Shape 34"/>
              <p:cNvSpPr/>
              <p:nvPr/>
            </p:nvSpPr>
            <p:spPr>
              <a:xfrm>
                <a:off x="10224" y="5602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37" name="Text 35"/>
              <p:cNvSpPr txBox="1"/>
              <p:nvPr/>
            </p:nvSpPr>
            <p:spPr>
              <a:xfrm>
                <a:off x="10224" y="5602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!</a:t>
                </a:r>
                <a:endParaRPr lang="en-US" sz="1050" dirty="0"/>
              </a:p>
            </p:txBody>
          </p:sp>
          <p:sp>
            <p:nvSpPr>
              <p:cNvPr id="38" name="Text 36"/>
              <p:cNvSpPr txBox="1"/>
              <p:nvPr/>
            </p:nvSpPr>
            <p:spPr>
              <a:xfrm>
                <a:off x="10771" y="5501"/>
                <a:ext cx="748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JWT bearer auth (mock issuer)</a:t>
                </a:r>
                <a:endParaRPr lang="en-US" sz="1300" dirty="0"/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10224" y="6466"/>
              <a:ext cx="8035" cy="576"/>
              <a:chOff x="10224" y="6466"/>
              <a:chExt cx="8035" cy="576"/>
            </a:xfrm>
          </p:grpSpPr>
          <p:sp>
            <p:nvSpPr>
              <p:cNvPr id="39" name="Shape 37"/>
              <p:cNvSpPr/>
              <p:nvPr/>
            </p:nvSpPr>
            <p:spPr>
              <a:xfrm>
                <a:off x="10224" y="6566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40" name="Text 38"/>
              <p:cNvSpPr txBox="1"/>
              <p:nvPr/>
            </p:nvSpPr>
            <p:spPr>
              <a:xfrm>
                <a:off x="10224" y="6566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!</a:t>
                </a:r>
                <a:endParaRPr lang="en-US" sz="1050" dirty="0"/>
              </a:p>
            </p:txBody>
          </p:sp>
          <p:sp>
            <p:nvSpPr>
              <p:cNvPr id="41" name="Text 39"/>
              <p:cNvSpPr txBox="1"/>
              <p:nvPr/>
            </p:nvSpPr>
            <p:spPr>
              <a:xfrm>
                <a:off x="10771" y="6466"/>
                <a:ext cx="748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RFC 7807 Problem Details for all errors</a:t>
                </a:r>
                <a:endParaRPr lang="en-US" sz="1300" dirty="0"/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10224" y="7430"/>
              <a:ext cx="8035" cy="576"/>
              <a:chOff x="10224" y="7430"/>
              <a:chExt cx="8035" cy="576"/>
            </a:xfrm>
          </p:grpSpPr>
          <p:sp>
            <p:nvSpPr>
              <p:cNvPr id="42" name="Shape 40"/>
              <p:cNvSpPr/>
              <p:nvPr/>
            </p:nvSpPr>
            <p:spPr>
              <a:xfrm>
                <a:off x="10224" y="7531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43" name="Text 41"/>
              <p:cNvSpPr txBox="1"/>
              <p:nvPr/>
            </p:nvSpPr>
            <p:spPr>
              <a:xfrm>
                <a:off x="10224" y="7531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!</a:t>
                </a:r>
                <a:endParaRPr lang="en-US" sz="1050" dirty="0"/>
              </a:p>
            </p:txBody>
          </p:sp>
          <p:sp>
            <p:nvSpPr>
              <p:cNvPr id="44" name="Text 42"/>
              <p:cNvSpPr txBox="1"/>
              <p:nvPr/>
            </p:nvSpPr>
            <p:spPr>
              <a:xfrm>
                <a:off x="10771" y="7430"/>
                <a:ext cx="748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OpenTelemetry metrics across API and workers</a:t>
                </a:r>
                <a:endParaRPr lang="en-US" sz="1300" dirty="0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0224" y="8395"/>
              <a:ext cx="8035" cy="576"/>
              <a:chOff x="10224" y="8395"/>
              <a:chExt cx="8035" cy="576"/>
            </a:xfrm>
          </p:grpSpPr>
          <p:sp>
            <p:nvSpPr>
              <p:cNvPr id="45" name="Shape 43"/>
              <p:cNvSpPr/>
              <p:nvPr/>
            </p:nvSpPr>
            <p:spPr>
              <a:xfrm>
                <a:off x="10224" y="8496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46" name="Text 44"/>
              <p:cNvSpPr txBox="1"/>
              <p:nvPr/>
            </p:nvSpPr>
            <p:spPr>
              <a:xfrm>
                <a:off x="10224" y="8496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!</a:t>
                </a:r>
                <a:endParaRPr lang="en-US" sz="1050" dirty="0"/>
              </a:p>
            </p:txBody>
          </p:sp>
          <p:sp>
            <p:nvSpPr>
              <p:cNvPr id="47" name="Text 45"/>
              <p:cNvSpPr txBox="1"/>
              <p:nvPr/>
            </p:nvSpPr>
            <p:spPr>
              <a:xfrm>
                <a:off x="10771" y="8395"/>
                <a:ext cx="748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docker compose up - single command to run</a:t>
                </a:r>
                <a:endParaRPr lang="en-US" sz="1300" dirty="0"/>
              </a:p>
            </p:txBody>
          </p:sp>
        </p:grpSp>
      </p:grpSp>
      <p:pic>
        <p:nvPicPr>
          <p:cNvPr id="48" name="Image 0" descr="/home/claude/deck3/firstban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68099"/>
            <a:ext cx="502920" cy="425309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8988552" y="65471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9875520" y="3449320"/>
            <a:ext cx="635" cy="288290"/>
          </a:xfrm>
          <a:prstGeom prst="line">
            <a:avLst/>
          </a:prstGeom>
          <a:noFill/>
          <a:ln w="19050">
            <a:solidFill>
              <a:srgbClr val="022E6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880600" y="4434840"/>
            <a:ext cx="0" cy="411480"/>
          </a:xfrm>
          <a:prstGeom prst="line">
            <a:avLst/>
          </a:prstGeom>
          <a:noFill/>
          <a:ln w="12700">
            <a:solidFill>
              <a:srgbClr val="6E6E6E"/>
            </a:solidFill>
            <a:prstDash val="dash"/>
            <a:tailEnd type="triangle"/>
          </a:ln>
        </p:spPr>
      </p:sp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End-to-End System Topology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40280" y="1645920"/>
            <a:ext cx="9144000" cy="3931920"/>
          </a:xfrm>
          <a:prstGeom prst="roundRect">
            <a:avLst>
              <a:gd name="adj" fmla="val 2791"/>
            </a:avLst>
          </a:prstGeom>
          <a:ln w="15875">
            <a:solidFill>
              <a:srgbClr val="6E6E6E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377440" y="1371600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docker compose 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7373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1554480" cy="28529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Client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63128"/>
            <a:ext cx="1554480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mobile · USSD · web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828800"/>
            <a:ext cx="8778240" cy="594360"/>
          </a:xfrm>
          <a:prstGeom prst="roundRect">
            <a:avLst>
              <a:gd name="adj" fmla="val 10769"/>
            </a:avLst>
          </a:prstGeom>
          <a:solidFill>
            <a:srgbClr val="FBF0D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874520"/>
            <a:ext cx="8595360" cy="28529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NovaWallet API   (1 : N instances)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46440"/>
            <a:ext cx="8595360" cy="2734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stateless · behind a load balancer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283464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F6F7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2880360"/>
            <a:ext cx="2560320" cy="28529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Redis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182620"/>
            <a:ext cx="2560320" cy="2734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idempotency claims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0" y="283464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E7EDF5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2880360"/>
            <a:ext cx="2560320" cy="28529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3182620"/>
            <a:ext cx="2560320" cy="2734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source of truth - wallets, ledger, outbox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03920" y="283464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F6F7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0" y="2880360"/>
            <a:ext cx="2560320" cy="28529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RabbitMQ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3182620"/>
            <a:ext cx="2560320" cy="2734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outbox event delivery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03285" y="3789680"/>
            <a:ext cx="2743835" cy="707390"/>
          </a:xfrm>
          <a:prstGeom prst="roundRect">
            <a:avLst>
              <a:gd name="adj" fmla="val 10769"/>
            </a:avLst>
          </a:prstGeom>
          <a:solidFill>
            <a:srgbClr val="E7EDF5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0" y="3835400"/>
            <a:ext cx="2560320" cy="28529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Background Workers   (1 : N)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4127500"/>
            <a:ext cx="2560320" cy="2734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DepositConsumer ·TransferOutboxWorker Reconciliation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4846320"/>
            <a:ext cx="8778240" cy="548640"/>
          </a:xfrm>
          <a:prstGeom prst="roundRect">
            <a:avLst>
              <a:gd name="adj" fmla="val 11667"/>
            </a:avLst>
          </a:prstGeom>
          <a:solidFill>
            <a:srgbClr val="F6F7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60320" y="4892040"/>
            <a:ext cx="8595360" cy="263347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OpenTelemetry Collector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5140960"/>
            <a:ext cx="8595360" cy="2523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traces · metrics · logs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03120" y="2125980"/>
            <a:ext cx="365760" cy="0"/>
          </a:xfrm>
          <a:prstGeom prst="line">
            <a:avLst/>
          </a:prstGeom>
          <a:noFill/>
          <a:ln w="19050">
            <a:solidFill>
              <a:srgbClr val="022E6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840480" y="2423160"/>
            <a:ext cx="0" cy="411480"/>
          </a:xfrm>
          <a:prstGeom prst="line">
            <a:avLst/>
          </a:prstGeom>
          <a:noFill/>
          <a:ln w="15875">
            <a:solidFill>
              <a:srgbClr val="022E6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58000" y="2423160"/>
            <a:ext cx="0" cy="411480"/>
          </a:xfrm>
          <a:prstGeom prst="line">
            <a:avLst/>
          </a:prstGeom>
          <a:noFill/>
          <a:ln w="15875">
            <a:solidFill>
              <a:srgbClr val="022E6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75520" y="2423160"/>
            <a:ext cx="0" cy="411480"/>
          </a:xfrm>
          <a:prstGeom prst="line">
            <a:avLst/>
          </a:prstGeom>
          <a:noFill/>
          <a:ln w="15875">
            <a:solidFill>
              <a:srgbClr val="022E6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28920" y="2423160"/>
            <a:ext cx="0" cy="2423160"/>
          </a:xfrm>
          <a:prstGeom prst="line">
            <a:avLst/>
          </a:prstGeom>
          <a:noFill/>
          <a:ln w="12700">
            <a:solidFill>
              <a:srgbClr val="6E6E6E"/>
            </a:solidFill>
            <a:prstDash val="dash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548640" y="565099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Workers read/write PostgreSQL through the same atomic SQL paths as the API - no separate data-access layer.</a:t>
            </a:r>
            <a:endParaRPr lang="en-US" sz="1150" dirty="0"/>
          </a:p>
        </p:txBody>
      </p:sp>
      <p:pic>
        <p:nvPicPr>
          <p:cNvPr id="35" name="Image 0" descr="/home/claude/deck3/firstban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68099"/>
            <a:ext cx="502920" cy="425309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8988552" y="65471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Double-Entry Ledger Graph &amp; Chart of Accounts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73352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BF0D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28216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Wallet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039112"/>
            <a:ext cx="2340864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093976"/>
            <a:ext cx="2340864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AvailableBalanceKobo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Status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AccountId (FK)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673352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6F7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1728216"/>
            <a:ext cx="21122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Account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38728" y="2039112"/>
            <a:ext cx="2112264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2093976"/>
            <a:ext cx="2112264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AccountNumber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AccountType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Currency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673352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6F7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81928" y="1728216"/>
            <a:ext cx="23865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AccountEntry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1928" y="2039112"/>
            <a:ext cx="2386584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2093976"/>
            <a:ext cx="2386584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AccountId (FK)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JournalEntryId (FK)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Debit / Credit Kobo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89720" y="1673352"/>
            <a:ext cx="2404872" cy="1234440"/>
          </a:xfrm>
          <a:prstGeom prst="roundRect">
            <a:avLst>
              <a:gd name="adj" fmla="val 4444"/>
            </a:avLst>
          </a:prstGeom>
          <a:solidFill>
            <a:srgbClr val="E7EDF5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99448" y="1728216"/>
            <a:ext cx="21854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JournalEntry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99448" y="2039112"/>
            <a:ext cx="2185416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99448" y="2093976"/>
            <a:ext cx="2185416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IdempotencyKey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RequestPayloadHash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2290572"/>
            <a:ext cx="411480" cy="0"/>
          </a:xfrm>
          <a:prstGeom prst="line">
            <a:avLst/>
          </a:prstGeom>
          <a:noFill/>
          <a:ln w="15875">
            <a:solidFill>
              <a:srgbClr val="022E64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948940" y="1362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 :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2290572"/>
            <a:ext cx="411480" cy="0"/>
          </a:xfrm>
          <a:prstGeom prst="line">
            <a:avLst/>
          </a:prstGeom>
          <a:noFill/>
          <a:ln w="15875">
            <a:solidFill>
              <a:srgbClr val="022E64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692140" y="1362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 : 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78240" y="2290572"/>
            <a:ext cx="411480" cy="0"/>
          </a:xfrm>
          <a:prstGeom prst="line">
            <a:avLst/>
          </a:prstGeom>
          <a:noFill/>
          <a:ln w="15875">
            <a:solidFill>
              <a:srgbClr val="022E64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709660" y="1362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 : 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04495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Wallet (product domain) — Account, AccountEntry, JournalEntry (ledger domain). Peripheral tables (WalletDailyUsage, AuditLog, Outbox) appear in the flow slides that use them.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760597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Chart of Accounts</a:t>
            </a:r>
            <a:endParaRPr lang="en-US" sz="1500" dirty="0"/>
          </a:p>
        </p:txBody>
      </p:sp>
      <p:grpSp>
        <p:nvGrpSpPr>
          <p:cNvPr id="48" name="Group 47"/>
          <p:cNvGrpSpPr/>
          <p:nvPr/>
        </p:nvGrpSpPr>
        <p:grpSpPr>
          <a:xfrm>
            <a:off x="457200" y="4239895"/>
            <a:ext cx="11247120" cy="1261745"/>
            <a:chOff x="720" y="6120"/>
            <a:chExt cx="17712" cy="1987"/>
          </a:xfrm>
        </p:grpSpPr>
        <p:sp>
          <p:nvSpPr>
            <p:cNvPr id="28" name="Text 26"/>
            <p:cNvSpPr txBox="1"/>
            <p:nvPr/>
          </p:nvSpPr>
          <p:spPr>
            <a:xfrm>
              <a:off x="720" y="6120"/>
              <a:ext cx="489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6E6E6E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Account Number</a:t>
              </a:r>
              <a:endParaRPr lang="en-US" sz="1250" dirty="0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5760" y="6120"/>
              <a:ext cx="439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6E6E6E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Name</a:t>
              </a:r>
              <a:endParaRPr lang="en-US" sz="1250" dirty="0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10296" y="6120"/>
              <a:ext cx="237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6E6E6E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Type</a:t>
              </a:r>
              <a:endParaRPr lang="en-US" sz="1250" dirty="0"/>
            </a:p>
          </p:txBody>
        </p:sp>
        <p:sp>
          <p:nvSpPr>
            <p:cNvPr id="31" name="Text 29"/>
            <p:cNvSpPr txBox="1"/>
            <p:nvPr/>
          </p:nvSpPr>
          <p:spPr>
            <a:xfrm>
              <a:off x="12816" y="6120"/>
              <a:ext cx="561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6E6E6E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Description</a:t>
              </a:r>
              <a:endParaRPr lang="en-US" sz="12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20" y="6581"/>
              <a:ext cx="17712" cy="0"/>
            </a:xfrm>
            <a:prstGeom prst="line">
              <a:avLst/>
            </a:prstGeom>
            <a:noFill/>
            <a:ln w="12700">
              <a:solidFill>
                <a:srgbClr val="EAEAEA"/>
              </a:solidFill>
              <a:prstDash val="solid"/>
            </a:ln>
          </p:spPr>
        </p:sp>
        <p:sp>
          <p:nvSpPr>
            <p:cNvPr id="33" name="Text 31"/>
            <p:cNvSpPr txBox="1"/>
            <p:nvPr/>
          </p:nvSpPr>
          <p:spPr>
            <a:xfrm>
              <a:off x="720" y="6754"/>
              <a:ext cx="489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1000-NIP-SETTLEMENT</a:t>
              </a:r>
              <a:endParaRPr lang="en-US" sz="1150" dirty="0"/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5760" y="6754"/>
              <a:ext cx="4392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22E64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NIP Inflow Clearing</a:t>
              </a:r>
              <a:endParaRPr lang="en-US" sz="1200" dirty="0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10296" y="6754"/>
              <a:ext cx="237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E6E6E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Asset</a:t>
              </a:r>
              <a:endParaRPr lang="en-US" sz="1200" dirty="0"/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12816" y="6754"/>
              <a:ext cx="561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i="1" dirty="0">
                  <a:solidFill>
                    <a:srgbClr val="6E6E6E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Holds incoming NIBSS clearing funds</a:t>
              </a:r>
              <a:endParaRPr lang="en-US" sz="115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720" y="7387"/>
              <a:ext cx="17712" cy="720"/>
            </a:xfrm>
            <a:prstGeom prst="rect">
              <a:avLst/>
            </a:prstGeom>
            <a:solidFill>
              <a:srgbClr val="F6F7F9"/>
            </a:solidFill>
          </p:spPr>
        </p:sp>
        <p:sp>
          <p:nvSpPr>
            <p:cNvPr id="38" name="Text 36"/>
            <p:cNvSpPr txBox="1"/>
            <p:nvPr/>
          </p:nvSpPr>
          <p:spPr>
            <a:xfrm>
              <a:off x="720" y="7474"/>
              <a:ext cx="489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2100-USER-WALLETS</a:t>
              </a:r>
              <a:endParaRPr lang="en-US" sz="1150" dirty="0"/>
            </a:p>
          </p:txBody>
        </p:sp>
        <p:sp>
          <p:nvSpPr>
            <p:cNvPr id="39" name="Text 37"/>
            <p:cNvSpPr txBox="1"/>
            <p:nvPr/>
          </p:nvSpPr>
          <p:spPr>
            <a:xfrm>
              <a:off x="5760" y="7474"/>
              <a:ext cx="4392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22E64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Customer Wallet Liabilities</a:t>
              </a:r>
              <a:endParaRPr lang="en-US" sz="1200" dirty="0"/>
            </a:p>
          </p:txBody>
        </p:sp>
        <p:sp>
          <p:nvSpPr>
            <p:cNvPr id="40" name="Text 38"/>
            <p:cNvSpPr txBox="1"/>
            <p:nvPr/>
          </p:nvSpPr>
          <p:spPr>
            <a:xfrm>
              <a:off x="10296" y="7474"/>
              <a:ext cx="237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E6E6E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Liability</a:t>
              </a:r>
              <a:endParaRPr lang="en-US" sz="1200" dirty="0"/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12816" y="7474"/>
              <a:ext cx="561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i="1" dirty="0">
                  <a:solidFill>
                    <a:srgbClr val="6E6E6E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Obligations owed to e-wallet holders</a:t>
              </a:r>
              <a:endParaRPr lang="en-US" sz="1150" dirty="0"/>
            </a:p>
          </p:txBody>
        </p:sp>
      </p:grpSp>
      <p:pic>
        <p:nvPicPr>
          <p:cNvPr id="46" name="Image 0" descr="/home/claude/deck3/firstban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68099"/>
            <a:ext cx="502920" cy="425309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8988552" y="65471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Double-Entry Accounting Invariants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11109960" cy="1097280"/>
          </a:xfrm>
          <a:prstGeom prst="roundRect">
            <a:avLst>
              <a:gd name="adj" fmla="val 7500"/>
            </a:avLst>
          </a:prstGeom>
          <a:solidFill>
            <a:srgbClr val="022E64"/>
          </a:solidFill>
        </p:spPr>
      </p:sp>
      <p:sp>
        <p:nvSpPr>
          <p:cNvPr id="5" name="Text 3"/>
          <p:cNvSpPr txBox="1"/>
          <p:nvPr/>
        </p:nvSpPr>
        <p:spPr>
          <a:xfrm>
            <a:off x="868680" y="1545336"/>
            <a:ext cx="10424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Fundamental Ledger Equation - per JournalEntry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D0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Σ DebitAmountKobo == Σ CreditAmountKobo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24785"/>
            <a:ext cx="5440680" cy="3122930"/>
          </a:xfrm>
          <a:prstGeom prst="roundRect">
            <a:avLst>
              <a:gd name="adj" fmla="val 3000"/>
            </a:avLst>
          </a:prstGeom>
          <a:solidFill>
            <a:srgbClr val="F6F7F9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889504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Sign Exclusivity Constraint</a:t>
            </a:r>
            <a:endParaRPr lang="en-US" sz="15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868680" y="3363278"/>
            <a:ext cx="4846320" cy="2148967"/>
            <a:chOff x="1368" y="5083"/>
            <a:chExt cx="7632" cy="3384"/>
          </a:xfrm>
        </p:grpSpPr>
        <p:sp>
          <p:nvSpPr>
            <p:cNvPr id="9" name="Text 7"/>
            <p:cNvSpPr txBox="1"/>
            <p:nvPr/>
          </p:nvSpPr>
          <p:spPr>
            <a:xfrm>
              <a:off x="1368" y="5083"/>
              <a:ext cx="7632" cy="12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dirty="0">
                  <a:solidFill>
                    <a:srgbClr val="022E64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Every line is a debit OR a credit - never both, never neither. Enforced by a DB CHECK constraint, not just application code:</a:t>
              </a:r>
              <a:endParaRPr lang="en-US" sz="13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368" y="6451"/>
              <a:ext cx="7632" cy="2016"/>
            </a:xfrm>
            <a:prstGeom prst="rect">
              <a:avLst/>
            </a:prstGeom>
            <a:solidFill>
              <a:srgbClr val="F6F7F9"/>
            </a:solidFill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CHECK (</a:t>
              </a:r>
              <a:endParaRPr lang="en-US" sz="10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  ("DebitAmountKobo" &gt; 0 AND</a:t>
              </a:r>
              <a:endParaRPr lang="en-US" sz="10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   "CreditAmountKobo" = 0)</a:t>
              </a:r>
              <a:endParaRPr lang="en-US" sz="10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  OR</a:t>
              </a:r>
              <a:endParaRPr lang="en-US" sz="10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  ("DebitAmountKobo" = 0 AND</a:t>
              </a:r>
              <a:endParaRPr lang="en-US" sz="10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   "CreditAmountKobo" &gt; 0)</a:t>
              </a:r>
              <a:endParaRPr lang="en-US" sz="10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)</a:t>
              </a:r>
              <a:endParaRPr lang="en-US" sz="100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6245225" y="2725420"/>
            <a:ext cx="5486400" cy="3131185"/>
          </a:xfrm>
          <a:prstGeom prst="roundRect">
            <a:avLst>
              <a:gd name="adj" fmla="val 3000"/>
            </a:avLst>
          </a:prstGeom>
          <a:solidFill>
            <a:srgbClr val="E7EDF5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2889504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Immutable, Append-Only Audit</a:t>
            </a:r>
            <a:endParaRPr lang="en-US" sz="1500" dirty="0"/>
          </a:p>
        </p:txBody>
      </p:sp>
      <p:grpSp>
        <p:nvGrpSpPr>
          <p:cNvPr id="31" name="Group 30"/>
          <p:cNvGrpSpPr/>
          <p:nvPr/>
        </p:nvGrpSpPr>
        <p:grpSpPr>
          <a:xfrm>
            <a:off x="6492240" y="3486531"/>
            <a:ext cx="4845050" cy="1902460"/>
            <a:chOff x="10224" y="5270"/>
            <a:chExt cx="7630" cy="2996"/>
          </a:xfrm>
        </p:grpSpPr>
        <p:grpSp>
          <p:nvGrpSpPr>
            <p:cNvPr id="27" name="Group 26"/>
            <p:cNvGrpSpPr/>
            <p:nvPr/>
          </p:nvGrpSpPr>
          <p:grpSpPr>
            <a:xfrm>
              <a:off x="10224" y="5270"/>
              <a:ext cx="7631" cy="576"/>
              <a:chOff x="10224" y="5270"/>
              <a:chExt cx="7631" cy="576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10224" y="5371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14" name="Text 12"/>
              <p:cNvSpPr txBox="1"/>
              <p:nvPr/>
            </p:nvSpPr>
            <p:spPr>
              <a:xfrm>
                <a:off x="10224" y="5371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15" name="Text 13"/>
              <p:cNvSpPr txBox="1"/>
              <p:nvPr/>
            </p:nvSpPr>
            <p:spPr>
              <a:xfrm>
                <a:off x="10771" y="5270"/>
                <a:ext cx="7085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AccountEntries has zero UPDATE or DELETE grants at the DB role level</a:t>
                </a:r>
                <a:endParaRPr lang="en-US" sz="1300" dirty="0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0224" y="6077"/>
              <a:ext cx="7631" cy="576"/>
              <a:chOff x="10224" y="6077"/>
              <a:chExt cx="7631" cy="576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10224" y="6178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17" name="Text 15"/>
              <p:cNvSpPr txBox="1"/>
              <p:nvPr/>
            </p:nvSpPr>
            <p:spPr>
              <a:xfrm>
                <a:off x="10224" y="6178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18" name="Text 16"/>
              <p:cNvSpPr txBox="1"/>
              <p:nvPr/>
            </p:nvSpPr>
            <p:spPr>
              <a:xfrm>
                <a:off x="10771" y="6077"/>
                <a:ext cx="7085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A mistake is never edited in place - it is reversed</a:t>
                </a:r>
                <a:endParaRPr lang="en-US" sz="1300" dirty="0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0224" y="6883"/>
              <a:ext cx="7631" cy="576"/>
              <a:chOff x="10224" y="6883"/>
              <a:chExt cx="7631" cy="576"/>
            </a:xfrm>
          </p:grpSpPr>
          <p:sp>
            <p:nvSpPr>
              <p:cNvPr id="19" name="Shape 17"/>
              <p:cNvSpPr/>
              <p:nvPr/>
            </p:nvSpPr>
            <p:spPr>
              <a:xfrm>
                <a:off x="10224" y="6984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20" name="Text 18"/>
              <p:cNvSpPr txBox="1"/>
              <p:nvPr/>
            </p:nvSpPr>
            <p:spPr>
              <a:xfrm>
                <a:off x="10224" y="6984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21" name="Text 19"/>
              <p:cNvSpPr txBox="1"/>
              <p:nvPr/>
            </p:nvSpPr>
            <p:spPr>
              <a:xfrm>
                <a:off x="10771" y="6883"/>
                <a:ext cx="7085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Corrections post a new, reversing JournalEntry</a:t>
                </a:r>
                <a:endParaRPr lang="en-US" sz="1300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10224" y="7690"/>
              <a:ext cx="7631" cy="576"/>
              <a:chOff x="10224" y="7690"/>
              <a:chExt cx="7631" cy="576"/>
            </a:xfrm>
          </p:grpSpPr>
          <p:sp>
            <p:nvSpPr>
              <p:cNvPr id="22" name="Shape 20"/>
              <p:cNvSpPr/>
              <p:nvPr/>
            </p:nvSpPr>
            <p:spPr>
              <a:xfrm>
                <a:off x="10224" y="7790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23" name="Text 21"/>
              <p:cNvSpPr txBox="1"/>
              <p:nvPr/>
            </p:nvSpPr>
            <p:spPr>
              <a:xfrm>
                <a:off x="10224" y="7790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24" name="Text 22"/>
              <p:cNvSpPr txBox="1"/>
              <p:nvPr/>
            </p:nvSpPr>
            <p:spPr>
              <a:xfrm>
                <a:off x="10771" y="7690"/>
                <a:ext cx="7085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The full history of what happened stays queryable, forever</a:t>
                </a:r>
                <a:endParaRPr lang="en-US" sz="1300" dirty="0"/>
              </a:p>
            </p:txBody>
          </p:sp>
        </p:grpSp>
      </p:grpSp>
      <p:pic>
        <p:nvPicPr>
          <p:cNvPr id="25" name="Image 0" descr="/home/claude/deck3/firstban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68099"/>
            <a:ext cx="502920" cy="425309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988552" y="65471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HOT PATH - FLOW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Inbound NIP Deposit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Asynchronous clearing - the webhook never blocks on the ledger write.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10512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F6F7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56232"/>
            <a:ext cx="2103120" cy="41696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NIP Switch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6612"/>
            <a:ext cx="2103120" cy="3995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Inbound callback, 30-digit SessionId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2244852"/>
            <a:ext cx="320040" cy="0"/>
          </a:xfrm>
          <a:prstGeom prst="line">
            <a:avLst/>
          </a:prstGeom>
          <a:noFill/>
          <a:ln w="19050">
            <a:solidFill>
              <a:srgbClr val="022E6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1810512"/>
            <a:ext cx="2743200" cy="868680"/>
          </a:xfrm>
          <a:prstGeom prst="roundRect">
            <a:avLst>
              <a:gd name="adj" fmla="val 7368"/>
            </a:avLst>
          </a:prstGeom>
          <a:solidFill>
            <a:srgbClr val="F6F7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1856232"/>
            <a:ext cx="2560320" cy="41696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POST /wallets/credit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356612"/>
            <a:ext cx="2560320" cy="3995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Validate account → ExternalCreditRequest → DepositOutbox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06440" y="2244852"/>
            <a:ext cx="320040" cy="0"/>
          </a:xfrm>
          <a:prstGeom prst="line">
            <a:avLst/>
          </a:prstGeom>
          <a:noFill/>
          <a:ln w="19050">
            <a:solidFill>
              <a:srgbClr val="022E6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26480" y="1810512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FBF0D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856232"/>
            <a:ext cx="1737360" cy="41696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202 Accepted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356612"/>
            <a:ext cx="1737360" cy="3995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returned instantly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2244852"/>
            <a:ext cx="320040" cy="0"/>
          </a:xfrm>
          <a:prstGeom prst="line">
            <a:avLst/>
          </a:prstGeom>
          <a:noFill/>
          <a:ln w="19050">
            <a:solidFill>
              <a:srgbClr val="022E6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66760" y="1810512"/>
            <a:ext cx="2926080" cy="868680"/>
          </a:xfrm>
          <a:prstGeom prst="roundRect">
            <a:avLst>
              <a:gd name="adj" fmla="val 7368"/>
            </a:avLst>
          </a:prstGeom>
          <a:solidFill>
            <a:srgbClr val="E7EDF5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58200" y="1856232"/>
            <a:ext cx="2743200" cy="41696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DepositConsumer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356612"/>
            <a:ext cx="2743200" cy="3995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picks up the outbox row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36265"/>
            <a:ext cx="11247120" cy="2282825"/>
          </a:xfrm>
          <a:prstGeom prst="roundRect">
            <a:avLst>
              <a:gd name="adj" fmla="val 4186"/>
            </a:avLst>
          </a:prstGeom>
          <a:solidFill>
            <a:srgbClr val="F6F7F9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3300984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One PostgreSQL Transaction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7240" y="3730752"/>
            <a:ext cx="292608" cy="292608"/>
          </a:xfrm>
          <a:prstGeom prst="ellipse">
            <a:avLst/>
          </a:prstGeom>
          <a:solidFill>
            <a:srgbClr val="FBF0D9"/>
          </a:solidFill>
        </p:spPr>
      </p:sp>
      <p:sp>
        <p:nvSpPr>
          <p:cNvPr id="23" name="Text 21"/>
          <p:cNvSpPr txBox="1"/>
          <p:nvPr/>
        </p:nvSpPr>
        <p:spPr>
          <a:xfrm>
            <a:off x="777240" y="37307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675888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Obtain a row lock on the beneficiary Wallet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114800"/>
            <a:ext cx="292608" cy="292608"/>
          </a:xfrm>
          <a:prstGeom prst="ellipse">
            <a:avLst/>
          </a:prstGeom>
          <a:solidFill>
            <a:srgbClr val="FBF0D9"/>
          </a:solidFill>
        </p:spPr>
      </p:sp>
      <p:sp>
        <p:nvSpPr>
          <p:cNvPr id="26" name="Text 24"/>
          <p:cNvSpPr txBox="1"/>
          <p:nvPr/>
        </p:nvSpPr>
        <p:spPr>
          <a:xfrm>
            <a:off x="777240" y="4114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0599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Wallet.AvailableBalanceKobo += AmountKobo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" y="4498848"/>
            <a:ext cx="292608" cy="292608"/>
          </a:xfrm>
          <a:prstGeom prst="ellipse">
            <a:avLst/>
          </a:prstGeom>
          <a:solidFill>
            <a:srgbClr val="FBF0D9"/>
          </a:solidFill>
        </p:spPr>
      </p:sp>
      <p:sp>
        <p:nvSpPr>
          <p:cNvPr id="29" name="Text 27"/>
          <p:cNvSpPr txBox="1"/>
          <p:nvPr/>
        </p:nvSpPr>
        <p:spPr>
          <a:xfrm>
            <a:off x="777240" y="449884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4443984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Post the double-entry pair : Debit 1000-NIP-SETTLEMENT (Asset), Credit 2100-USER-WALLETS (Liability)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" y="4882896"/>
            <a:ext cx="292608" cy="292608"/>
          </a:xfrm>
          <a:prstGeom prst="ellipse">
            <a:avLst/>
          </a:prstGeom>
          <a:solidFill>
            <a:srgbClr val="FBF0D9"/>
          </a:solidFill>
        </p:spPr>
      </p:sp>
      <p:sp>
        <p:nvSpPr>
          <p:cNvPr id="32" name="Text 30"/>
          <p:cNvSpPr txBox="1"/>
          <p:nvPr/>
        </p:nvSpPr>
        <p:spPr>
          <a:xfrm>
            <a:off x="777240" y="4882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4828032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Mark DepositOutbox Processed; mark the NIP SessionId settled</a:t>
            </a:r>
            <a:endParaRPr lang="en-US" sz="1300" dirty="0"/>
          </a:p>
        </p:txBody>
      </p:sp>
      <p:pic>
        <p:nvPicPr>
          <p:cNvPr id="34" name="Image 0" descr="/home/claude/deck3/firstban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68099"/>
            <a:ext cx="502920" cy="425309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8988552" y="65471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HOT PATH — FLOW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Inter-Wallet Transfer (P2P Hot Path)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11247120" cy="1234440"/>
          </a:xfrm>
          <a:prstGeom prst="roundRect">
            <a:avLst>
              <a:gd name="adj" fmla="val 6667"/>
            </a:avLst>
          </a:prstGeom>
          <a:solidFill>
            <a:srgbClr val="F6F7F9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27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Pre-Transaction Scope Guards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29968"/>
            <a:ext cx="219456" cy="219456"/>
          </a:xfrm>
          <a:prstGeom prst="ellipse">
            <a:avLst/>
          </a:prstGeom>
          <a:solidFill>
            <a:srgbClr val="FBF0D9"/>
          </a:solidFill>
        </p:spPr>
      </p:sp>
      <p:sp>
        <p:nvSpPr>
          <p:cNvPr id="7" name="Text 5"/>
          <p:cNvSpPr txBox="1"/>
          <p:nvPr/>
        </p:nvSpPr>
        <p:spPr>
          <a:xfrm>
            <a:off x="777240" y="202996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1911096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JWT ownership - Wallet.UserId == sub claim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029968"/>
            <a:ext cx="219456" cy="219456"/>
          </a:xfrm>
          <a:prstGeom prst="ellipse">
            <a:avLst/>
          </a:prstGeom>
          <a:solidFill>
            <a:srgbClr val="FBF0D9"/>
          </a:solidFill>
        </p:spPr>
      </p:sp>
      <p:sp>
        <p:nvSpPr>
          <p:cNvPr id="10" name="Text 8"/>
          <p:cNvSpPr txBox="1"/>
          <p:nvPr/>
        </p:nvSpPr>
        <p:spPr>
          <a:xfrm>
            <a:off x="4434840" y="202996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1911096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Beneficiary status - rejects frozen/closed wallets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2029968"/>
            <a:ext cx="219456" cy="219456"/>
          </a:xfrm>
          <a:prstGeom prst="ellipse">
            <a:avLst/>
          </a:prstGeom>
          <a:solidFill>
            <a:srgbClr val="FBF0D9"/>
          </a:solidFill>
        </p:spPr>
      </p:sp>
      <p:sp>
        <p:nvSpPr>
          <p:cNvPr id="13" name="Text 11"/>
          <p:cNvSpPr txBox="1"/>
          <p:nvPr/>
        </p:nvSpPr>
        <p:spPr>
          <a:xfrm>
            <a:off x="8092440" y="202996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1911096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Amount &amp; currency - positive Kobo, NGN-only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11247120" cy="3246120"/>
          </a:xfrm>
          <a:prstGeom prst="roundRect">
            <a:avLst>
              <a:gd name="adj" fmla="val 2535"/>
            </a:avLst>
          </a:prstGeom>
          <a:solidFill>
            <a:srgbClr val="E7EDF5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2980944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Single Atomic DB Transaction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3438144"/>
            <a:ext cx="292608" cy="29260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8" name="Text 16"/>
          <p:cNvSpPr txBox="1"/>
          <p:nvPr/>
        </p:nvSpPr>
        <p:spPr>
          <a:xfrm>
            <a:off x="777240" y="343814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364992"/>
            <a:ext cx="32918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Deterministic lock ordering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364992"/>
            <a:ext cx="67665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Sort wallet IDs min(A,B) → max(A,B); acquire row locks to prevent deadlocks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3941064"/>
            <a:ext cx="292608" cy="29260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2" name="Text 20"/>
          <p:cNvSpPr txBox="1"/>
          <p:nvPr/>
        </p:nvSpPr>
        <p:spPr>
          <a:xfrm>
            <a:off x="777240" y="39410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867912"/>
            <a:ext cx="32918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Guarded daily-usage UPSERT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867912"/>
            <a:ext cx="67665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WalletDailyUsage for the WAT date; rolls back if Spent + Amount &gt; Limit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7240" y="4443984"/>
            <a:ext cx="292608" cy="29260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6" name="Text 24"/>
          <p:cNvSpPr txBox="1"/>
          <p:nvPr/>
        </p:nvSpPr>
        <p:spPr>
          <a:xfrm>
            <a:off x="777240" y="444398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370832"/>
            <a:ext cx="32918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Atomic balance mutations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370832"/>
            <a:ext cx="67665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Sender: WHERE AvailableBalanceKobo &gt;= Amount; Recipient: credited unconditionally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77240" y="4946904"/>
            <a:ext cx="292608" cy="29260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0" name="Text 28"/>
          <p:cNvSpPr txBox="1"/>
          <p:nvPr/>
        </p:nvSpPr>
        <p:spPr>
          <a:xfrm>
            <a:off x="777240" y="49469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4873752"/>
            <a:ext cx="32918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Ledger posting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4873752"/>
            <a:ext cx="67665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JournalEntry + balanced AccountEntries : Debit sender, Credit recipient (Liability accounts)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77240" y="5449824"/>
            <a:ext cx="292608" cy="29260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4" name="Text 32"/>
          <p:cNvSpPr txBox="1"/>
          <p:nvPr/>
        </p:nvSpPr>
        <p:spPr>
          <a:xfrm>
            <a:off x="777240" y="54498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234440" y="5376672"/>
            <a:ext cx="32918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Outbox event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5376672"/>
            <a:ext cx="67665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TransferOutbox row written inside the same committing transaction</a:t>
            </a:r>
            <a:endParaRPr lang="en-US" sz="1250" dirty="0"/>
          </a:p>
        </p:txBody>
      </p:sp>
      <p:pic>
        <p:nvPicPr>
          <p:cNvPr id="37" name="Image 0" descr="/home/claude/deck3/firstban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68099"/>
            <a:ext cx="502920" cy="425309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8988552" y="65471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CORRECTNESS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Concurrency, Idempotency &amp; Daily Limits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3611880" cy="4727448"/>
          </a:xfrm>
          <a:prstGeom prst="roundRect">
            <a:avLst>
              <a:gd name="adj" fmla="val 2278"/>
            </a:avLst>
          </a:prstGeom>
          <a:solidFill>
            <a:srgbClr val="F6F7F9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63624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Deterministic Locking + Atomic Guard</a:t>
            </a:r>
            <a:endParaRPr lang="en-US" sz="1400" dirty="0"/>
          </a:p>
        </p:txBody>
      </p:sp>
      <p:grpSp>
        <p:nvGrpSpPr>
          <p:cNvPr id="55" name="Group 54"/>
          <p:cNvGrpSpPr/>
          <p:nvPr/>
        </p:nvGrpSpPr>
        <p:grpSpPr>
          <a:xfrm>
            <a:off x="822960" y="3472815"/>
            <a:ext cx="3061970" cy="1499235"/>
            <a:chOff x="1296" y="5242"/>
            <a:chExt cx="4822" cy="2361"/>
          </a:xfrm>
        </p:grpSpPr>
        <p:grpSp>
          <p:nvGrpSpPr>
            <p:cNvPr id="52" name="Group 51"/>
            <p:cNvGrpSpPr/>
            <p:nvPr/>
          </p:nvGrpSpPr>
          <p:grpSpPr>
            <a:xfrm>
              <a:off x="1296" y="5242"/>
              <a:ext cx="4823" cy="576"/>
              <a:chOff x="1296" y="5242"/>
              <a:chExt cx="4823" cy="576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1296" y="5342"/>
                <a:ext cx="374" cy="374"/>
              </a:xfrm>
              <a:prstGeom prst="ellipse">
                <a:avLst/>
              </a:prstGeom>
              <a:solidFill>
                <a:srgbClr val="E7EDF5"/>
              </a:solidFill>
            </p:spPr>
          </p:sp>
          <p:sp>
            <p:nvSpPr>
              <p:cNvPr id="8" name="Text 6"/>
              <p:cNvSpPr txBox="1"/>
              <p:nvPr/>
            </p:nvSpPr>
            <p:spPr>
              <a:xfrm>
                <a:off x="1296" y="5342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9" name="Text 7"/>
              <p:cNvSpPr txBox="1"/>
              <p:nvPr/>
            </p:nvSpPr>
            <p:spPr>
              <a:xfrm>
                <a:off x="1843" y="5242"/>
                <a:ext cx="4277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Lock IDs sorted min(A,B)→ max(A,B) : no deadlocks</a:t>
                </a:r>
                <a:endParaRPr lang="en-US" sz="1200" dirty="0"/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1296" y="6134"/>
              <a:ext cx="4823" cy="576"/>
              <a:chOff x="1296" y="6134"/>
              <a:chExt cx="4823" cy="576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1296" y="6235"/>
                <a:ext cx="374" cy="374"/>
              </a:xfrm>
              <a:prstGeom prst="ellipse">
                <a:avLst/>
              </a:prstGeom>
              <a:solidFill>
                <a:srgbClr val="E7EDF5"/>
              </a:solidFill>
            </p:spPr>
          </p:sp>
          <p:sp>
            <p:nvSpPr>
              <p:cNvPr id="11" name="Text 9"/>
              <p:cNvSpPr txBox="1"/>
              <p:nvPr/>
            </p:nvSpPr>
            <p:spPr>
              <a:xfrm>
                <a:off x="1296" y="6235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12" name="Text 10"/>
              <p:cNvSpPr txBox="1"/>
              <p:nvPr/>
            </p:nvSpPr>
            <p:spPr>
              <a:xfrm>
                <a:off x="1843" y="6134"/>
                <a:ext cx="4277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1 row → success; 0 rows → clean rejection</a:t>
                </a:r>
                <a:endParaRPr lang="en-US" sz="1200" dirty="0"/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1296" y="7027"/>
              <a:ext cx="4823" cy="576"/>
              <a:chOff x="1296" y="7027"/>
              <a:chExt cx="4823" cy="576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1296" y="7128"/>
                <a:ext cx="374" cy="374"/>
              </a:xfrm>
              <a:prstGeom prst="ellipse">
                <a:avLst/>
              </a:prstGeom>
              <a:solidFill>
                <a:srgbClr val="E7EDF5"/>
              </a:solidFill>
            </p:spPr>
          </p:sp>
          <p:sp>
            <p:nvSpPr>
              <p:cNvPr id="14" name="Text 12"/>
              <p:cNvSpPr txBox="1"/>
              <p:nvPr/>
            </p:nvSpPr>
            <p:spPr>
              <a:xfrm>
                <a:off x="1296" y="7128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15" name="Text 13"/>
              <p:cNvSpPr txBox="1"/>
              <p:nvPr/>
            </p:nvSpPr>
            <p:spPr>
              <a:xfrm>
                <a:off x="1843" y="7027"/>
                <a:ext cx="4277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No optimistic-concurrency retry storms</a:t>
                </a:r>
                <a:endParaRPr lang="en-US" sz="1200" dirty="0"/>
              </a:p>
            </p:txBody>
          </p:sp>
        </p:grpSp>
      </p:grpSp>
      <p:sp>
        <p:nvSpPr>
          <p:cNvPr id="16" name="Shape 14"/>
          <p:cNvSpPr/>
          <p:nvPr/>
        </p:nvSpPr>
        <p:spPr>
          <a:xfrm>
            <a:off x="4297680" y="1399032"/>
            <a:ext cx="3611880" cy="4727448"/>
          </a:xfrm>
          <a:prstGeom prst="roundRect">
            <a:avLst>
              <a:gd name="adj" fmla="val 2278"/>
            </a:avLst>
          </a:prstGeom>
          <a:solidFill>
            <a:srgbClr val="FBF0D9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72000" y="156362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Two-Tier Idempotency</a:t>
            </a:r>
            <a:endParaRPr lang="en-US" sz="1400" dirty="0"/>
          </a:p>
        </p:txBody>
      </p:sp>
      <p:grpSp>
        <p:nvGrpSpPr>
          <p:cNvPr id="56" name="Group 55"/>
          <p:cNvGrpSpPr/>
          <p:nvPr/>
        </p:nvGrpSpPr>
        <p:grpSpPr>
          <a:xfrm>
            <a:off x="4572000" y="3472815"/>
            <a:ext cx="3061970" cy="2066290"/>
            <a:chOff x="7200" y="4306"/>
            <a:chExt cx="4822" cy="3254"/>
          </a:xfrm>
        </p:grpSpPr>
        <p:grpSp>
          <p:nvGrpSpPr>
            <p:cNvPr id="51" name="Group 50"/>
            <p:cNvGrpSpPr/>
            <p:nvPr/>
          </p:nvGrpSpPr>
          <p:grpSpPr>
            <a:xfrm>
              <a:off x="7200" y="4306"/>
              <a:ext cx="4823" cy="576"/>
              <a:chOff x="7200" y="4306"/>
              <a:chExt cx="4823" cy="576"/>
            </a:xfrm>
          </p:grpSpPr>
          <p:sp>
            <p:nvSpPr>
              <p:cNvPr id="19" name="Shape 17"/>
              <p:cNvSpPr/>
              <p:nvPr/>
            </p:nvSpPr>
            <p:spPr>
              <a:xfrm>
                <a:off x="7200" y="4406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20" name="Text 18"/>
              <p:cNvSpPr txBox="1"/>
              <p:nvPr/>
            </p:nvSpPr>
            <p:spPr>
              <a:xfrm>
                <a:off x="7200" y="4406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21" name="Text 19"/>
              <p:cNvSpPr txBox="1"/>
              <p:nvPr/>
            </p:nvSpPr>
            <p:spPr>
              <a:xfrm>
                <a:off x="7747" y="4306"/>
                <a:ext cx="4277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Redis - fast duplicate short-circuit</a:t>
                </a:r>
                <a:endParaRPr lang="en-US" sz="1200" dirty="0"/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7200" y="5198"/>
              <a:ext cx="4823" cy="576"/>
              <a:chOff x="7200" y="5198"/>
              <a:chExt cx="4823" cy="576"/>
            </a:xfrm>
          </p:grpSpPr>
          <p:sp>
            <p:nvSpPr>
              <p:cNvPr id="22" name="Shape 20"/>
              <p:cNvSpPr/>
              <p:nvPr/>
            </p:nvSpPr>
            <p:spPr>
              <a:xfrm>
                <a:off x="7200" y="5299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23" name="Text 21"/>
              <p:cNvSpPr txBox="1"/>
              <p:nvPr/>
            </p:nvSpPr>
            <p:spPr>
              <a:xfrm>
                <a:off x="7200" y="5299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24" name="Text 22"/>
              <p:cNvSpPr txBox="1"/>
              <p:nvPr/>
            </p:nvSpPr>
            <p:spPr>
              <a:xfrm>
                <a:off x="7747" y="5198"/>
                <a:ext cx="4277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DB lookup by key + payload hash is authoritative</a:t>
                </a:r>
                <a:endParaRPr lang="en-US" sz="1200" dirty="0"/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7200" y="6091"/>
              <a:ext cx="4823" cy="576"/>
              <a:chOff x="7200" y="6091"/>
              <a:chExt cx="4823" cy="576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7200" y="6192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26" name="Text 24"/>
              <p:cNvSpPr txBox="1"/>
              <p:nvPr/>
            </p:nvSpPr>
            <p:spPr>
              <a:xfrm>
                <a:off x="7200" y="6192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27" name="Text 25"/>
              <p:cNvSpPr txBox="1"/>
              <p:nvPr/>
            </p:nvSpPr>
            <p:spPr>
              <a:xfrm>
                <a:off x="7747" y="6091"/>
                <a:ext cx="4277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Hash matches → replay; differs → 409 Conflict</a:t>
                </a:r>
                <a:endParaRPr lang="en-US" sz="1200" dirty="0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7200" y="6984"/>
              <a:ext cx="4823" cy="576"/>
              <a:chOff x="7200" y="6984"/>
              <a:chExt cx="4823" cy="576"/>
            </a:xfrm>
          </p:grpSpPr>
          <p:sp>
            <p:nvSpPr>
              <p:cNvPr id="28" name="Shape 26"/>
              <p:cNvSpPr/>
              <p:nvPr/>
            </p:nvSpPr>
            <p:spPr>
              <a:xfrm>
                <a:off x="7200" y="7085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29" name="Text 27"/>
              <p:cNvSpPr txBox="1"/>
              <p:nvPr/>
            </p:nvSpPr>
            <p:spPr>
              <a:xfrm>
                <a:off x="7200" y="7085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30" name="Text 28"/>
              <p:cNvSpPr txBox="1"/>
              <p:nvPr/>
            </p:nvSpPr>
            <p:spPr>
              <a:xfrm>
                <a:off x="7747" y="6984"/>
                <a:ext cx="4277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Unique constraint on the key is the real race guard</a:t>
                </a:r>
                <a:endParaRPr lang="en-US" sz="1200" dirty="0"/>
              </a:p>
            </p:txBody>
          </p:sp>
        </p:grpSp>
      </p:grpSp>
      <p:sp>
        <p:nvSpPr>
          <p:cNvPr id="31" name="Shape 29"/>
          <p:cNvSpPr/>
          <p:nvPr/>
        </p:nvSpPr>
        <p:spPr>
          <a:xfrm>
            <a:off x="8046720" y="1399032"/>
            <a:ext cx="3611880" cy="4727448"/>
          </a:xfrm>
          <a:prstGeom prst="roundRect">
            <a:avLst>
              <a:gd name="adj" fmla="val 2278"/>
            </a:avLst>
          </a:prstGeom>
          <a:solidFill>
            <a:srgbClr val="E7EDF5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321040" y="156362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O(1) Atomic Daily Limit</a:t>
            </a:r>
            <a:endParaRPr lang="en-US" sz="1400" dirty="0"/>
          </a:p>
        </p:txBody>
      </p:sp>
      <p:grpSp>
        <p:nvGrpSpPr>
          <p:cNvPr id="58" name="Group 57"/>
          <p:cNvGrpSpPr/>
          <p:nvPr/>
        </p:nvGrpSpPr>
        <p:grpSpPr>
          <a:xfrm>
            <a:off x="822960" y="2172970"/>
            <a:ext cx="10561320" cy="948055"/>
            <a:chOff x="1296" y="3182"/>
            <a:chExt cx="16632" cy="1493"/>
          </a:xfrm>
        </p:grpSpPr>
        <p:sp>
          <p:nvSpPr>
            <p:cNvPr id="6" name="Text 4"/>
            <p:cNvSpPr txBox="1"/>
            <p:nvPr/>
          </p:nvSpPr>
          <p:spPr>
            <a:xfrm>
              <a:off x="1296" y="3182"/>
              <a:ext cx="4824" cy="1493"/>
            </a:xfrm>
            <a:prstGeom prst="rect">
              <a:avLst/>
            </a:prstGeom>
            <a:solidFill>
              <a:srgbClr val="F6F7F9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UPDATE Wallets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SET Balance = Balance - @Amt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WHERE Id = @Id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  AND Balance &gt;= @Amt;</a:t>
              </a:r>
              <a:endParaRPr lang="en-US" sz="105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200" y="3182"/>
              <a:ext cx="4824" cy="1493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SET idempotency:{key}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  processing NX EX 30</a:t>
              </a:r>
              <a:endParaRPr lang="en-US" sz="1050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13104" y="3183"/>
              <a:ext cx="4824" cy="1492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UPSERT WalletDailyUsage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b="1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WHERE Spent + Amt &lt;= Limit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b="1" dirty="0">
                  <a:solidFill>
                    <a:srgbClr val="022E64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(WAT-anchored date)</a:t>
              </a:r>
              <a:endParaRPr lang="en-US" sz="1000" dirty="0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8321040" y="3472815"/>
            <a:ext cx="3061970" cy="1499235"/>
            <a:chOff x="13104" y="4810"/>
            <a:chExt cx="4822" cy="2361"/>
          </a:xfrm>
        </p:grpSpPr>
        <p:grpSp>
          <p:nvGrpSpPr>
            <p:cNvPr id="45" name="Group 44"/>
            <p:cNvGrpSpPr/>
            <p:nvPr/>
          </p:nvGrpSpPr>
          <p:grpSpPr>
            <a:xfrm>
              <a:off x="13104" y="4810"/>
              <a:ext cx="4823" cy="576"/>
              <a:chOff x="13104" y="4810"/>
              <a:chExt cx="4823" cy="576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13104" y="4910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35" name="Text 33"/>
              <p:cNvSpPr txBox="1"/>
              <p:nvPr/>
            </p:nvSpPr>
            <p:spPr>
              <a:xfrm>
                <a:off x="13104" y="4910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36" name="Text 34"/>
              <p:cNvSpPr txBox="1"/>
              <p:nvPr/>
            </p:nvSpPr>
            <p:spPr>
              <a:xfrm>
                <a:off x="13651" y="4810"/>
                <a:ext cx="4277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Materialized table, not a running SUM()</a:t>
                </a:r>
                <a:endParaRPr lang="en-US" sz="1200" dirty="0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13104" y="5702"/>
              <a:ext cx="4823" cy="576"/>
              <a:chOff x="13104" y="5702"/>
              <a:chExt cx="4823" cy="576"/>
            </a:xfrm>
          </p:grpSpPr>
          <p:sp>
            <p:nvSpPr>
              <p:cNvPr id="37" name="Shape 35"/>
              <p:cNvSpPr/>
              <p:nvPr/>
            </p:nvSpPr>
            <p:spPr>
              <a:xfrm>
                <a:off x="13104" y="5803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38" name="Text 36"/>
              <p:cNvSpPr txBox="1"/>
              <p:nvPr/>
            </p:nvSpPr>
            <p:spPr>
              <a:xfrm>
                <a:off x="13104" y="5803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39" name="Text 37"/>
              <p:cNvSpPr txBox="1"/>
              <p:nvPr/>
            </p:nvSpPr>
            <p:spPr>
              <a:xfrm>
                <a:off x="13651" y="5702"/>
                <a:ext cx="4277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(CURRENT_TIMESTAMP AT TIME ZONE 'Africa/Lagos')::DATE</a:t>
                </a:r>
                <a:endParaRPr lang="en-US" sz="1200" dirty="0"/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13104" y="6595"/>
              <a:ext cx="4823" cy="576"/>
              <a:chOff x="13104" y="6595"/>
              <a:chExt cx="4823" cy="576"/>
            </a:xfrm>
          </p:grpSpPr>
          <p:sp>
            <p:nvSpPr>
              <p:cNvPr id="40" name="Shape 38"/>
              <p:cNvSpPr/>
              <p:nvPr/>
            </p:nvSpPr>
            <p:spPr>
              <a:xfrm>
                <a:off x="13104" y="6696"/>
                <a:ext cx="374" cy="374"/>
              </a:xfrm>
              <a:prstGeom prst="ellipse">
                <a:avLst/>
              </a:prstGeom>
              <a:solidFill>
                <a:srgbClr val="FFFFFF"/>
              </a:solidFill>
            </p:spPr>
          </p:sp>
          <p:sp>
            <p:nvSpPr>
              <p:cNvPr id="41" name="Text 39"/>
              <p:cNvSpPr txBox="1"/>
              <p:nvPr/>
            </p:nvSpPr>
            <p:spPr>
              <a:xfrm>
                <a:off x="13104" y="6696"/>
                <a:ext cx="374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✓</a:t>
                </a:r>
                <a:endParaRPr lang="en-US" sz="1050" dirty="0"/>
              </a:p>
            </p:txBody>
          </p:sp>
          <p:sp>
            <p:nvSpPr>
              <p:cNvPr id="42" name="Text 40"/>
              <p:cNvSpPr txBox="1"/>
              <p:nvPr/>
            </p:nvSpPr>
            <p:spPr>
              <a:xfrm>
                <a:off x="13651" y="6595"/>
                <a:ext cx="4277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22E64"/>
                    </a:solidFill>
                    <a:latin typeface="Segoe UI" panose="020B0502040204020203" pitchFamily="34" charset="0"/>
                    <a:ea typeface="Segoe UI" panose="020B0502040204020203" pitchFamily="34" charset="-122"/>
                    <a:cs typeface="Segoe UI" panose="020B0502040204020203" pitchFamily="34" charset="-120"/>
                  </a:rPr>
                  <a:t>Eliminates O(N) historical scans over years of data</a:t>
                </a:r>
                <a:endParaRPr lang="en-US" sz="1200" dirty="0"/>
              </a:p>
            </p:txBody>
          </p:sp>
        </p:grpSp>
      </p:grpSp>
      <p:pic>
        <p:nvPicPr>
          <p:cNvPr id="43" name="Image 0" descr="/home/claude/deck3/firstban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68099"/>
            <a:ext cx="502920" cy="425309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8988552" y="65471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CORRECTNESS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Scalable Ledger Reconciliation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11109960" cy="960120"/>
          </a:xfrm>
          <a:prstGeom prst="roundRect">
            <a:avLst>
              <a:gd name="adj" fmla="val 8571"/>
            </a:avLst>
          </a:prstGeom>
          <a:solidFill>
            <a:srgbClr val="F6F7F9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270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Why naive SUM() fails at scale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5623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Running SUM(AccountEntries) from Day 0 across years of history causes buffer-pool thrashing, high CPU, and lock contention on the primary.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11109960" cy="1188720"/>
          </a:xfrm>
          <a:prstGeom prst="roundRect">
            <a:avLst>
              <a:gd name="adj" fmla="val 6923"/>
            </a:avLst>
          </a:prstGeom>
          <a:solidFill>
            <a:srgbClr val="022E64"/>
          </a:solidFill>
        </p:spPr>
      </p:sp>
      <p:sp>
        <p:nvSpPr>
          <p:cNvPr id="8" name="Text 6"/>
          <p:cNvSpPr txBox="1"/>
          <p:nvPr/>
        </p:nvSpPr>
        <p:spPr>
          <a:xfrm>
            <a:off x="868680" y="2734056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Production Snapshot Architecture - LedgerSnapshots(AccountId, SnapshotDate, ClosingBalanceKobo, LastJournalEntryId)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D0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Balance  =  Snapshot.ClosingBalanceKobo  +  Σ (Credits − Debits) from SnapshotDate to Now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05072"/>
            <a:ext cx="5440680" cy="1508760"/>
          </a:xfrm>
          <a:prstGeom prst="roundRect">
            <a:avLst>
              <a:gd name="adj" fmla="val 5455"/>
            </a:avLst>
          </a:prstGeom>
          <a:solidFill>
            <a:srgbClr val="F6F7F9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1422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Performance Result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462272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Reconciliation scanning drops from O(N) total history to O(k) : only the delta entries since the last snapshot.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4005072"/>
            <a:ext cx="5486400" cy="1508760"/>
          </a:xfrm>
          <a:prstGeom prst="roundRect">
            <a:avLst>
              <a:gd name="adj" fmla="val 5455"/>
            </a:avLst>
          </a:prstGeom>
          <a:solidFill>
            <a:srgbClr val="E7EDF5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41422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Execution Isolation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462272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Reconciliation queries run against a PostgreSQL read replica - chunked keyset scanning, primary write throughput unaffected.</a:t>
            </a:r>
            <a:endParaRPr lang="en-US" sz="1300" dirty="0"/>
          </a:p>
        </p:txBody>
      </p:sp>
      <p:pic>
        <p:nvPicPr>
          <p:cNvPr id="16" name="Image 0" descr="/home/claude/deck3/firstban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68099"/>
            <a:ext cx="502920" cy="425309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988552" y="65471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VERIFICATION &amp; JUDGMENT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Verification, Load Testing &amp; Deliverable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2697480" cy="1005840"/>
          </a:xfrm>
          <a:prstGeom prst="roundRect">
            <a:avLst>
              <a:gd name="adj" fmla="val 8182"/>
            </a:avLst>
          </a:prstGeom>
          <a:solidFill>
            <a:srgbClr val="E7EDF5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453896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50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concurrent requests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399032"/>
            <a:ext cx="2697480" cy="1005840"/>
          </a:xfrm>
          <a:prstGeom prst="roundRect">
            <a:avLst>
              <a:gd name="adj" fmla="val 8182"/>
            </a:avLst>
          </a:prstGeom>
          <a:solidFill>
            <a:srgbClr val="E7EDF5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453896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₦500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965960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each, vs ₦10,000 balance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99032"/>
            <a:ext cx="2697480" cy="1005840"/>
          </a:xfrm>
          <a:prstGeom prst="roundRect">
            <a:avLst>
              <a:gd name="adj" fmla="val 8182"/>
            </a:avLst>
          </a:prstGeom>
          <a:solidFill>
            <a:srgbClr val="FBF0D9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453896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965960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expected to succeed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399032"/>
            <a:ext cx="2697480" cy="1005840"/>
          </a:xfrm>
          <a:prstGeom prst="roundRect">
            <a:avLst>
              <a:gd name="adj" fmla="val 8182"/>
            </a:avLst>
          </a:prstGeom>
          <a:solidFill>
            <a:srgbClr val="FBF0D9"/>
          </a:solidFill>
          <a:ln w="9525">
            <a:solidFill>
              <a:srgbClr val="EAEAEA"/>
            </a:solidFill>
            <a:prstDash val="solid"/>
          </a:ln>
          <a:effectLst>
            <a:outerShdw blurRad="101600" dist="25400" dir="5400000" algn="bl" rotWithShape="0">
              <a:srgbClr val="6B728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52560" y="1453896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₦0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965960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final balance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63347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Decision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63347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Chosen Strategy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63347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Deferred / Avoided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944368"/>
            <a:ext cx="1110996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054096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Concurrency Guard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3054096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Atomic conditional UPDATE + ID sorting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3054096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Optimistic retries / distributed locks per row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465576"/>
            <a:ext cx="11109960" cy="457200"/>
          </a:xfrm>
          <a:prstGeom prst="rect">
            <a:avLst/>
          </a:prstGeom>
          <a:solidFill>
            <a:srgbClr val="F6F7F9"/>
          </a:solidFill>
        </p:spPr>
      </p:sp>
      <p:sp>
        <p:nvSpPr>
          <p:cNvPr id="24" name="Text 22"/>
          <p:cNvSpPr txBox="1"/>
          <p:nvPr/>
        </p:nvSpPr>
        <p:spPr>
          <a:xfrm>
            <a:off x="548640" y="3511296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Idempotency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3511296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Redis fast-path + DB unique constraint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511296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In-memory app cache without a DB backstop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968496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Daily Limit Calculation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3968496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O(1) materialized WalletDailyUsage UPSERT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3968496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O(N) historical transaction SUM() scans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379976"/>
            <a:ext cx="11109960" cy="457200"/>
          </a:xfrm>
          <a:prstGeom prst="rect">
            <a:avLst/>
          </a:prstGeom>
          <a:solidFill>
            <a:srgbClr val="F6F7F9"/>
          </a:solidFill>
        </p:spPr>
      </p:sp>
      <p:sp>
        <p:nvSpPr>
          <p:cNvPr id="31" name="Text 29"/>
          <p:cNvSpPr txBox="1"/>
          <p:nvPr/>
        </p:nvSpPr>
        <p:spPr>
          <a:xfrm>
            <a:off x="548640" y="4425696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Reconciliation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114800" y="4425696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Chunked keyset scanning + snapshots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4425696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Full-table single-sweep scans from day zero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" y="4992624"/>
            <a:ext cx="1106424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102352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Thank You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504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Oluwagbemileke Femi Oyeyoade  ·  github.com/Gbemmiey  ·  LinkedIn: Oluwagbemileke Oyeyoade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815584"/>
            <a:ext cx="256032" cy="256032"/>
          </a:xfrm>
          <a:prstGeom prst="ellipse">
            <a:avLst/>
          </a:prstGeom>
          <a:solidFill>
            <a:srgbClr val="FBF0D9"/>
          </a:solidFill>
        </p:spPr>
      </p:sp>
      <p:sp>
        <p:nvSpPr>
          <p:cNvPr id="38" name="Text 36"/>
          <p:cNvSpPr txBox="1"/>
          <p:nvPr/>
        </p:nvSpPr>
        <p:spPr>
          <a:xfrm>
            <a:off x="548640" y="581558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2E6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788152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2E6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Repository (private)  —  </a:t>
            </a:r>
            <a:r>
              <a:rPr lang="en-US" sz="1100" dirty="0">
                <a:solidFill>
                  <a:srgbClr val="6E6E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github.com/Gbemmiey/Novawallet.Ledger.Service</a:t>
            </a:r>
            <a:endParaRPr lang="en-US" sz="1100" dirty="0"/>
          </a:p>
        </p:txBody>
      </p:sp>
      <p:pic>
        <p:nvPicPr>
          <p:cNvPr id="40" name="Image 0" descr="/home/claude/deck3/firstban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68099"/>
            <a:ext cx="502920" cy="425309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8988552" y="65471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E6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6263</Words>
  <Application>WPS Presentation</Application>
  <PresentationFormat>On-screen Show (16:9)</PresentationFormat>
  <Paragraphs>457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Segoe UI</vt:lpstr>
      <vt:lpstr>Segoe UI</vt:lpstr>
      <vt:lpstr>Segoe UI</vt:lpstr>
      <vt:lpstr>Courier New</vt:lpstr>
      <vt:lpstr>Courier New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oluwagbemileke.oyeyo</cp:lastModifiedBy>
  <cp:revision>48</cp:revision>
  <dcterms:created xsi:type="dcterms:W3CDTF">2026-09-17T10:38:00Z</dcterms:created>
  <dcterms:modified xsi:type="dcterms:W3CDTF">2026-09-17T12:14:04Z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0C813A83FD2F4F83BA37CBA866D3C3BA_12</vt:lpwstr>
  </property>
  <property fmtid="{D5CDD505-2E9C-101B-9397-08002B2CF9AE}" pid="3" name="KSOProductBuildVer">
    <vt:lpwstr>1033-12.1.0.28485</vt:lpwstr>
  </property>
</Properties>
</file>